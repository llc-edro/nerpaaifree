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47"/>
          <c:y val="0"/>
          <c:w val="0.618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935D8"/>
            </a:solidFill>
            <a:effectLst/>
          </c:spPr>
          <c:invertIfNegative val="0"/>
          <c:dLbls>
            <c:numFmt formatCode="0.##&quot; 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4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Этап 3</c:v>
                  </c:pt>
                  <c:pt idx="1">
                    <c:v>Этап 2</c:v>
                  </c:pt>
                  <c:pt idx="2">
                    <c:v>Этап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58</c:v>
                </c:pt>
                <c:pt idx="2">
                  <c:v>35</c:v>
                </c:pt>
              </c:numCache>
            </c:numRef>
          </c:val>
        </c:ser>
        <c:dLbls>
          <c:numFmt formatCode="0.##&quot; 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4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60" b="0" i="0" u="none" strike="noStrike">
                <a:solidFill>
                  <a:srgbClr val="1424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0"/>
        </c:scaling>
        <c:delete val="1"/>
        <c:axPos val="b"/>
        <c:numFmt formatCode="General" sourceLinked="0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127760"/>
            <a:ext cx="6248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Кобальтовая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731520" y="2217420"/>
            <a:ext cx="6248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редакция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792480" y="5059680"/>
            <a:ext cx="58369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Редакционная сетка, бумажная пластика и</a:t>
            </a:r>
            <a:endParaRPr lang="en-US" sz="1920" dirty="0"/>
          </a:p>
        </p:txBody>
      </p:sp>
      <p:sp>
        <p:nvSpPr>
          <p:cNvPr id="6" name="Text 3"/>
          <p:cNvSpPr/>
          <p:nvPr/>
        </p:nvSpPr>
        <p:spPr>
          <a:xfrm>
            <a:off x="792480" y="5376672"/>
            <a:ext cx="58369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насыщенный синий. Для стратегии, аналитики и</a:t>
            </a:r>
            <a:endParaRPr lang="en-US" sz="1920" dirty="0"/>
          </a:p>
        </p:txBody>
      </p:sp>
      <p:sp>
        <p:nvSpPr>
          <p:cNvPr id="7" name="Text 4"/>
          <p:cNvSpPr/>
          <p:nvPr/>
        </p:nvSpPr>
        <p:spPr>
          <a:xfrm>
            <a:off x="792480" y="5693664"/>
            <a:ext cx="58369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деловых презентаций.</a:t>
            </a:r>
            <a:endParaRPr lang="en-US" sz="1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её контекст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2484120"/>
            <a:ext cx="47396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</a:t>
            </a:r>
            <a:endParaRPr lang="en-US" sz="2640" dirty="0"/>
          </a:p>
        </p:txBody>
      </p:sp>
      <p:sp>
        <p:nvSpPr>
          <p:cNvPr id="4" name="Text 2"/>
          <p:cNvSpPr/>
          <p:nvPr/>
        </p:nvSpPr>
        <p:spPr>
          <a:xfrm>
            <a:off x="731520" y="2919984"/>
            <a:ext cx="47396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Демоданные, не результаты</a:t>
            </a:r>
            <a:endParaRPr lang="en-US" sz="2640" dirty="0"/>
          </a:p>
        </p:txBody>
      </p:sp>
      <p:sp>
        <p:nvSpPr>
          <p:cNvPr id="5" name="Text 3"/>
          <p:cNvSpPr/>
          <p:nvPr/>
        </p:nvSpPr>
        <p:spPr>
          <a:xfrm>
            <a:off x="731520" y="3355848"/>
            <a:ext cx="47396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проекта.</a:t>
            </a:r>
            <a:endParaRPr lang="en-US" sz="2640" dirty="0"/>
          </a:p>
        </p:txBody>
      </p:sp>
      <p:sp>
        <p:nvSpPr>
          <p:cNvPr id="6" name="Shape 4"/>
          <p:cNvSpPr/>
          <p:nvPr/>
        </p:nvSpPr>
        <p:spPr>
          <a:xfrm>
            <a:off x="5920740" y="2514600"/>
            <a:ext cx="15240" cy="357378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1280" y="2545080"/>
            <a:ext cx="5029200" cy="30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860" dirty="0"/>
          </a:p>
        </p:txBody>
      </p:sp>
      <p:sp>
        <p:nvSpPr>
          <p:cNvPr id="8" name="Text 6"/>
          <p:cNvSpPr/>
          <p:nvPr/>
        </p:nvSpPr>
        <p:spPr>
          <a:xfrm>
            <a:off x="6431280" y="2956560"/>
            <a:ext cx="502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 потребностях аудитории.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31280" y="3451860"/>
            <a:ext cx="5029200" cy="30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860" dirty="0"/>
          </a:p>
        </p:txBody>
      </p:sp>
      <p:sp>
        <p:nvSpPr>
          <p:cNvPr id="10" name="Text 8"/>
          <p:cNvSpPr/>
          <p:nvPr/>
        </p:nvSpPr>
        <p:spPr>
          <a:xfrm>
            <a:off x="6431280" y="3863340"/>
            <a:ext cx="502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 подход к решению.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31280" y="4358640"/>
            <a:ext cx="5029200" cy="30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1860" dirty="0"/>
          </a:p>
        </p:txBody>
      </p:sp>
      <p:sp>
        <p:nvSpPr>
          <p:cNvPr id="12" name="Text 10"/>
          <p:cNvSpPr/>
          <p:nvPr/>
        </p:nvSpPr>
        <p:spPr>
          <a:xfrm>
            <a:off x="6431280" y="4770120"/>
            <a:ext cx="502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дальнейшие действия.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в деталях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2621280"/>
            <a:ext cx="489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731520" y="2977896"/>
            <a:ext cx="489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результаты проекта.</a:t>
            </a:r>
            <a:endParaRPr lang="en-US" sz="2160" dirty="0"/>
          </a:p>
        </p:txBody>
      </p:sp>
      <p:sp>
        <p:nvSpPr>
          <p:cNvPr id="5" name="Shape 3"/>
          <p:cNvSpPr/>
          <p:nvPr/>
        </p:nvSpPr>
        <p:spPr>
          <a:xfrm>
            <a:off x="6370320" y="2491740"/>
            <a:ext cx="5090160" cy="33680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6080" y="3230880"/>
            <a:ext cx="435864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2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в деталях</a:t>
            </a:r>
            <a:endParaRPr lang="en-US" sz="3120" dirty="0"/>
          </a:p>
        </p:txBody>
      </p:sp>
      <p:sp>
        <p:nvSpPr>
          <p:cNvPr id="7" name="Text 5"/>
          <p:cNvSpPr/>
          <p:nvPr/>
        </p:nvSpPr>
        <p:spPr>
          <a:xfrm>
            <a:off x="731520" y="4541520"/>
            <a:ext cx="489204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1520" y="4884420"/>
            <a:ext cx="4892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 потребностях аудитории.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372100"/>
            <a:ext cx="489204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4892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 подход к решению.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 проекта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31520" y="284226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802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731520" y="473202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731520" y="500938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потребностях аудитории.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4307840" y="284226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7840" y="320802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4307840" y="473202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307840" y="500938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к решению.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7884160" y="284226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4160" y="320802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7884160" y="473202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дальнейшие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7884160" y="500938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действия.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подходов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09600" y="2697480"/>
            <a:ext cx="5303520" cy="3444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3040380"/>
            <a:ext cx="4800600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94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2940" dirty="0"/>
          </a:p>
        </p:txBody>
      </p:sp>
      <p:sp>
        <p:nvSpPr>
          <p:cNvPr id="6" name="Text 4"/>
          <p:cNvSpPr/>
          <p:nvPr/>
        </p:nvSpPr>
        <p:spPr>
          <a:xfrm>
            <a:off x="838200" y="4678680"/>
            <a:ext cx="4800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 потребностях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838200" y="4995672"/>
            <a:ext cx="4800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аудитории.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096000" y="2697480"/>
            <a:ext cx="5303520" cy="3444240"/>
          </a:xfrm>
          <a:prstGeom prst="rect">
            <a:avLst/>
          </a:prstGeom>
          <a:solidFill>
            <a:srgbClr val="F5F3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600" y="3040380"/>
            <a:ext cx="4800600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9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940" dirty="0"/>
          </a:p>
        </p:txBody>
      </p:sp>
      <p:sp>
        <p:nvSpPr>
          <p:cNvPr id="10" name="Text 8"/>
          <p:cNvSpPr/>
          <p:nvPr/>
        </p:nvSpPr>
        <p:spPr>
          <a:xfrm>
            <a:off x="6324600" y="4678680"/>
            <a:ext cx="4800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 подход к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6324600" y="4995672"/>
            <a:ext cx="4800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решению.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работы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73152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680" dirty="0"/>
          </a:p>
        </p:txBody>
      </p:sp>
      <p:sp>
        <p:nvSpPr>
          <p:cNvPr id="5" name="Shape 3"/>
          <p:cNvSpPr/>
          <p:nvPr/>
        </p:nvSpPr>
        <p:spPr>
          <a:xfrm>
            <a:off x="73152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152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потребностях аудитории.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430784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80" dirty="0"/>
          </a:p>
        </p:txBody>
      </p:sp>
      <p:sp>
        <p:nvSpPr>
          <p:cNvPr id="10" name="Shape 8"/>
          <p:cNvSpPr/>
          <p:nvPr/>
        </p:nvSpPr>
        <p:spPr>
          <a:xfrm>
            <a:off x="430784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784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430784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430784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к решению.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788416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80" dirty="0"/>
          </a:p>
        </p:txBody>
      </p:sp>
      <p:sp>
        <p:nvSpPr>
          <p:cNvPr id="15" name="Shape 13"/>
          <p:cNvSpPr/>
          <p:nvPr/>
        </p:nvSpPr>
        <p:spPr>
          <a:xfrm>
            <a:off x="788416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416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788416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дальнейшие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788416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действия.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3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62000"/>
            <a:ext cx="990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мысль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731520" y="2491740"/>
            <a:ext cx="107289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</a:t>
            </a:r>
            <a:endParaRPr lang="en-US" sz="5280" dirty="0"/>
          </a:p>
        </p:txBody>
      </p:sp>
      <p:sp>
        <p:nvSpPr>
          <p:cNvPr id="4" name="Text 2"/>
          <p:cNvSpPr/>
          <p:nvPr/>
        </p:nvSpPr>
        <p:spPr>
          <a:xfrm>
            <a:off x="731520" y="3363468"/>
            <a:ext cx="107289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Демоданные, не результаты</a:t>
            </a:r>
            <a:endParaRPr lang="en-US" sz="5280" dirty="0"/>
          </a:p>
        </p:txBody>
      </p:sp>
      <p:sp>
        <p:nvSpPr>
          <p:cNvPr id="5" name="Text 3"/>
          <p:cNvSpPr/>
          <p:nvPr/>
        </p:nvSpPr>
        <p:spPr>
          <a:xfrm>
            <a:off x="731520" y="4235196"/>
            <a:ext cx="107289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проекта.</a:t>
            </a:r>
            <a:endParaRPr lang="en-US" sz="5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встречи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2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0560" y="3017520"/>
          <a:ext cx="10850880" cy="914400"/>
        </p:xfrm>
        <a:graphic>
          <a:graphicData uri="http://schemas.openxmlformats.org/drawingml/2006/table">
            <a:tbl>
              <a:tblPr/>
              <a:tblGrid>
                <a:gridCol w="3616960"/>
                <a:gridCol w="3616960"/>
                <a:gridCol w="361696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Тема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35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Формат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35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35D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Обсуждение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Общее понимание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Варианты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Сравнение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Выбранный подход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Следующий шаг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Планирование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1424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 действий</a:t>
                      </a:r>
                      <a:endParaRPr lang="en-US" sz="15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9144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ADF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показателей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670560" y="6050280"/>
            <a:ext cx="10363200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Условные значения только для предпросмотра шаблона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2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70560" y="3048000"/>
          <a:ext cx="10850880" cy="2819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показатели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31520" y="2781300"/>
            <a:ext cx="327152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720" y="3078480"/>
            <a:ext cx="3180080" cy="1446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7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8760" dirty="0"/>
          </a:p>
        </p:txBody>
      </p:sp>
      <p:sp>
        <p:nvSpPr>
          <p:cNvPr id="6" name="Text 4"/>
          <p:cNvSpPr/>
          <p:nvPr/>
        </p:nvSpPr>
        <p:spPr>
          <a:xfrm>
            <a:off x="807720" y="4754880"/>
            <a:ext cx="318008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807720" y="5623560"/>
            <a:ext cx="3180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показателя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07840" y="2781300"/>
            <a:ext cx="327152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040" y="3078480"/>
            <a:ext cx="3180080" cy="1446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7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60" dirty="0"/>
          </a:p>
        </p:txBody>
      </p:sp>
      <p:sp>
        <p:nvSpPr>
          <p:cNvPr id="10" name="Text 8"/>
          <p:cNvSpPr/>
          <p:nvPr/>
        </p:nvSpPr>
        <p:spPr>
          <a:xfrm>
            <a:off x="4384040" y="4754880"/>
            <a:ext cx="318008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Этапа</a:t>
            </a:r>
            <a:endParaRPr lang="en-US" sz="2040" dirty="0"/>
          </a:p>
        </p:txBody>
      </p:sp>
      <p:sp>
        <p:nvSpPr>
          <p:cNvPr id="11" name="Text 9"/>
          <p:cNvSpPr/>
          <p:nvPr/>
        </p:nvSpPr>
        <p:spPr>
          <a:xfrm>
            <a:off x="4384040" y="5623560"/>
            <a:ext cx="3180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плана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84160" y="2781300"/>
            <a:ext cx="327152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0360" y="3078480"/>
            <a:ext cx="3180080" cy="1446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7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760" dirty="0"/>
          </a:p>
        </p:txBody>
      </p:sp>
      <p:sp>
        <p:nvSpPr>
          <p:cNvPr id="14" name="Text 12"/>
          <p:cNvSpPr/>
          <p:nvPr/>
        </p:nvSpPr>
        <p:spPr>
          <a:xfrm>
            <a:off x="7960360" y="4754880"/>
            <a:ext cx="318008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Недель</a:t>
            </a:r>
            <a:endParaRPr lang="en-US" sz="2040" dirty="0"/>
          </a:p>
        </p:txBody>
      </p:sp>
      <p:sp>
        <p:nvSpPr>
          <p:cNvPr id="15" name="Text 13"/>
          <p:cNvSpPr/>
          <p:nvPr/>
        </p:nvSpPr>
        <p:spPr>
          <a:xfrm>
            <a:off x="7960360" y="5623560"/>
            <a:ext cx="3180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срока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результат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31520" y="2720340"/>
            <a:ext cx="6903720" cy="347472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819400"/>
            <a:ext cx="6339840" cy="194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760" dirty="0"/>
          </a:p>
        </p:txBody>
      </p:sp>
      <p:sp>
        <p:nvSpPr>
          <p:cNvPr id="6" name="Text 4"/>
          <p:cNvSpPr/>
          <p:nvPr/>
        </p:nvSpPr>
        <p:spPr>
          <a:xfrm>
            <a:off x="1066800" y="4884420"/>
            <a:ext cx="6202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1066800" y="5669280"/>
            <a:ext cx="6202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показателя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показателя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505968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95600"/>
            <a:ext cx="5059680" cy="188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400" dirty="0"/>
          </a:p>
        </p:txBody>
      </p:sp>
      <p:sp>
        <p:nvSpPr>
          <p:cNvPr id="6" name="Text 4"/>
          <p:cNvSpPr/>
          <p:nvPr/>
        </p:nvSpPr>
        <p:spPr>
          <a:xfrm>
            <a:off x="731520" y="4907280"/>
            <a:ext cx="505968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731520" y="5654040"/>
            <a:ext cx="5059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показателя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697480"/>
            <a:ext cx="505968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895600"/>
            <a:ext cx="5059680" cy="188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00" dirty="0"/>
          </a:p>
        </p:txBody>
      </p:sp>
      <p:sp>
        <p:nvSpPr>
          <p:cNvPr id="10" name="Text 8"/>
          <p:cNvSpPr/>
          <p:nvPr/>
        </p:nvSpPr>
        <p:spPr>
          <a:xfrm>
            <a:off x="6217920" y="4907280"/>
            <a:ext cx="505968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Этапа</a:t>
            </a:r>
            <a:endParaRPr lang="en-US" sz="2040" dirty="0"/>
          </a:p>
        </p:txBody>
      </p:sp>
      <p:sp>
        <p:nvSpPr>
          <p:cNvPr id="11" name="Text 9"/>
          <p:cNvSpPr/>
          <p:nvPr/>
        </p:nvSpPr>
        <p:spPr>
          <a:xfrm>
            <a:off x="6217920" y="5654040"/>
            <a:ext cx="5059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плана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в цифрах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7462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4680" dirty="0"/>
          </a:p>
        </p:txBody>
      </p:sp>
      <p:sp>
        <p:nvSpPr>
          <p:cNvPr id="6" name="Text 4"/>
          <p:cNvSpPr/>
          <p:nvPr/>
        </p:nvSpPr>
        <p:spPr>
          <a:xfrm>
            <a:off x="822960" y="345948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822960" y="401574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показателя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307840" y="260604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9280" y="267462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80" dirty="0"/>
          </a:p>
        </p:txBody>
      </p:sp>
      <p:sp>
        <p:nvSpPr>
          <p:cNvPr id="10" name="Text 8"/>
          <p:cNvSpPr/>
          <p:nvPr/>
        </p:nvSpPr>
        <p:spPr>
          <a:xfrm>
            <a:off x="4399280" y="345948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Этапа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399280" y="401574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плана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884160" y="260604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5600" y="267462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80" dirty="0"/>
          </a:p>
        </p:txBody>
      </p:sp>
      <p:sp>
        <p:nvSpPr>
          <p:cNvPr id="14" name="Text 12"/>
          <p:cNvSpPr/>
          <p:nvPr/>
        </p:nvSpPr>
        <p:spPr>
          <a:xfrm>
            <a:off x="7975600" y="345948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Недель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7975600" y="401574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срока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31520" y="446532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3390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4680" dirty="0"/>
          </a:p>
        </p:txBody>
      </p:sp>
      <p:sp>
        <p:nvSpPr>
          <p:cNvPr id="18" name="Text 16"/>
          <p:cNvSpPr/>
          <p:nvPr/>
        </p:nvSpPr>
        <p:spPr>
          <a:xfrm>
            <a:off x="822960" y="531876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Участники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822960" y="587502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количества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4307840" y="446532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9280" y="453390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680" dirty="0"/>
          </a:p>
        </p:txBody>
      </p:sp>
      <p:sp>
        <p:nvSpPr>
          <p:cNvPr id="22" name="Text 20"/>
          <p:cNvSpPr/>
          <p:nvPr/>
        </p:nvSpPr>
        <p:spPr>
          <a:xfrm>
            <a:off x="4399280" y="531876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4399280" y="587502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количества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7884160" y="4465320"/>
            <a:ext cx="3332480" cy="15240"/>
          </a:xfrm>
          <a:prstGeom prst="rect">
            <a:avLst/>
          </a:prstGeom>
          <a:solidFill>
            <a:srgbClr val="DAD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5600" y="4533900"/>
            <a:ext cx="31496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4680" dirty="0"/>
          </a:p>
        </p:txBody>
      </p:sp>
      <p:sp>
        <p:nvSpPr>
          <p:cNvPr id="26" name="Text 24"/>
          <p:cNvSpPr/>
          <p:nvPr/>
        </p:nvSpPr>
        <p:spPr>
          <a:xfrm>
            <a:off x="7975600" y="5318760"/>
            <a:ext cx="31496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Встречи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7975600" y="5875020"/>
            <a:ext cx="314960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количества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запуска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73152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680" dirty="0"/>
          </a:p>
        </p:txBody>
      </p:sp>
      <p:sp>
        <p:nvSpPr>
          <p:cNvPr id="5" name="Shape 3"/>
          <p:cNvSpPr/>
          <p:nvPr/>
        </p:nvSpPr>
        <p:spPr>
          <a:xfrm>
            <a:off x="73152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152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потребностях аудитории.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430784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80" dirty="0"/>
          </a:p>
        </p:txBody>
      </p:sp>
      <p:sp>
        <p:nvSpPr>
          <p:cNvPr id="10" name="Shape 8"/>
          <p:cNvSpPr/>
          <p:nvPr/>
        </p:nvSpPr>
        <p:spPr>
          <a:xfrm>
            <a:off x="430784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784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430784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430784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к решению.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7884160" y="2796540"/>
            <a:ext cx="33020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68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80" dirty="0"/>
          </a:p>
        </p:txBody>
      </p:sp>
      <p:sp>
        <p:nvSpPr>
          <p:cNvPr id="15" name="Shape 13"/>
          <p:cNvSpPr/>
          <p:nvPr/>
        </p:nvSpPr>
        <p:spPr>
          <a:xfrm>
            <a:off x="7884160" y="3863340"/>
            <a:ext cx="3302000" cy="22860"/>
          </a:xfrm>
          <a:prstGeom prst="rect">
            <a:avLst/>
          </a:prstGeom>
          <a:solidFill>
            <a:srgbClr val="193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4160" y="4175760"/>
            <a:ext cx="330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7884160" y="5349240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дальнейшие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7884160" y="5626608"/>
            <a:ext cx="3302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действия.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79120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8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устроено решение</a:t>
            </a:r>
            <a:endParaRPr lang="en-US" sz="3840" dirty="0"/>
          </a:p>
        </p:txBody>
      </p:sp>
      <p:sp>
        <p:nvSpPr>
          <p:cNvPr id="3" name="Text 1"/>
          <p:cNvSpPr/>
          <p:nvPr/>
        </p:nvSpPr>
        <p:spPr>
          <a:xfrm>
            <a:off x="731520" y="1882140"/>
            <a:ext cx="10728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оформления. Демоданные, не результаты проекта.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731520" y="2750820"/>
            <a:ext cx="85344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60" dirty="0"/>
          </a:p>
        </p:txBody>
      </p:sp>
      <p:sp>
        <p:nvSpPr>
          <p:cNvPr id="5" name="Text 3"/>
          <p:cNvSpPr/>
          <p:nvPr/>
        </p:nvSpPr>
        <p:spPr>
          <a:xfrm>
            <a:off x="1935480" y="2750820"/>
            <a:ext cx="344424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2040" dirty="0"/>
          </a:p>
        </p:txBody>
      </p:sp>
      <p:sp>
        <p:nvSpPr>
          <p:cNvPr id="6" name="Text 4"/>
          <p:cNvSpPr/>
          <p:nvPr/>
        </p:nvSpPr>
        <p:spPr>
          <a:xfrm>
            <a:off x="5913120" y="2796540"/>
            <a:ext cx="5547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задаче и потребностях аудитории.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731520" y="3909060"/>
            <a:ext cx="85344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1935480" y="3909060"/>
            <a:ext cx="344424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040" dirty="0"/>
          </a:p>
        </p:txBody>
      </p:sp>
      <p:sp>
        <p:nvSpPr>
          <p:cNvPr id="9" name="Text 7"/>
          <p:cNvSpPr/>
          <p:nvPr/>
        </p:nvSpPr>
        <p:spPr>
          <a:xfrm>
            <a:off x="5913120" y="3954780"/>
            <a:ext cx="5547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проверить подход к решению.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731520" y="5067300"/>
            <a:ext cx="85344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193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60" dirty="0"/>
          </a:p>
        </p:txBody>
      </p:sp>
      <p:sp>
        <p:nvSpPr>
          <p:cNvPr id="11" name="Text 9"/>
          <p:cNvSpPr/>
          <p:nvPr/>
        </p:nvSpPr>
        <p:spPr>
          <a:xfrm>
            <a:off x="1935480" y="5067300"/>
            <a:ext cx="3444240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4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5913120" y="5113020"/>
            <a:ext cx="5547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дальнейшие действия.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10972800" y="6484620"/>
            <a:ext cx="48768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dirty="0">
                <a:solidFill>
                  <a:srgbClr val="66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3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62000"/>
            <a:ext cx="990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731520" y="2491740"/>
            <a:ext cx="107289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следующие шаги</a:t>
            </a:r>
            <a:endParaRPr lang="en-US" sz="5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Кобальтовая редакция</dc:title>
  <dc:subject>Кобальтовая редакция</dc:subject>
  <dc:creator>NerpaAI</dc:creator>
  <cp:lastModifiedBy>NerpaAI</cp:lastModifiedBy>
  <cp:revision>1</cp:revision>
  <dcterms:created xsi:type="dcterms:W3CDTF">2026-09-21T11:54:16Z</dcterms:created>
  <dcterms:modified xsi:type="dcterms:W3CDTF">2026-09-21T11:54:16Z</dcterms:modified>
</cp:coreProperties>
</file>